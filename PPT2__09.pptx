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260" r:id="rId5"/>
    <p:sldId id="277" r:id="rId6"/>
    <p:sldId id="262" r:id="rId7"/>
    <p:sldId id="264" r:id="rId8"/>
    <p:sldId id="265" r:id="rId9"/>
    <p:sldId id="266" r:id="rId10"/>
    <p:sldId id="279" r:id="rId11"/>
    <p:sldId id="278" r:id="rId12"/>
    <p:sldId id="269" r:id="rId13"/>
    <p:sldId id="270" r:id="rId14"/>
    <p:sldId id="271" r:id="rId15"/>
    <p:sldId id="272" r:id="rId16"/>
    <p:sldId id="273" r:id="rId17"/>
    <p:sldId id="280" r:id="rId18"/>
    <p:sldId id="274" r:id="rId19"/>
    <p:sldId id="276" r:id="rId20"/>
  </p:sldIdLst>
  <p:sldSz cx="12192000" cy="6858000"/>
  <p:notesSz cx="6858000" cy="9144000"/>
  <p:defaultTextStyle>
    <a:defPPr>
      <a:defRPr lang="en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26" autoAdjust="0"/>
    <p:restoredTop sz="96296"/>
  </p:normalViewPr>
  <p:slideViewPr>
    <p:cSldViewPr snapToGrid="0">
      <p:cViewPr varScale="1">
        <p:scale>
          <a:sx n="112" d="100"/>
          <a:sy n="112" d="100"/>
        </p:scale>
        <p:origin x="696" y="184"/>
      </p:cViewPr>
      <p:guideLst/>
    </p:cSldViewPr>
  </p:slideViewPr>
  <p:outlineViewPr>
    <p:cViewPr>
      <p:scale>
        <a:sx n="33" d="100"/>
        <a:sy n="33" d="100"/>
      </p:scale>
      <p:origin x="0" y="-1332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6D3095-173F-6A45-9F6C-B3CEBA0EEF26}" type="datetimeFigureOut">
              <a:rPr lang="en-EG" smtClean="0"/>
              <a:t>11/05/2026</a:t>
            </a:fld>
            <a:endParaRPr lang="en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E8B9A4-2E25-7646-BFA7-632E48AB6337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93517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E23F6E-5E34-0D4C-AD1B-BC647904DF05}" type="slidenum">
              <a:rPr lang="en-EG" smtClean="0"/>
              <a:t>1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313960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improved steadily </a:t>
            </a:r>
          </a:p>
          <a:p>
            <a:r>
              <a:rPr lang="en-US" dirty="0"/>
              <a:t>Validation fluctuated </a:t>
            </a:r>
          </a:p>
          <a:p>
            <a:r>
              <a:rPr lang="en-US" dirty="0"/>
              <a:t>Gap indicates overfitting </a:t>
            </a:r>
          </a:p>
          <a:p>
            <a:endParaRPr lang="en-US" dirty="0"/>
          </a:p>
          <a:p>
            <a:r>
              <a:rPr lang="en-US" dirty="0"/>
              <a:t>Because only 10 subjects </a:t>
            </a:r>
          </a:p>
          <a:p>
            <a:r>
              <a:rPr lang="en-US" dirty="0"/>
              <a:t>imbalance </a:t>
            </a:r>
          </a:p>
          <a:p>
            <a:r>
              <a:rPr lang="en-US" dirty="0"/>
              <a:t>ECG variability </a:t>
            </a:r>
          </a:p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E8B9A4-2E25-7646-BFA7-632E48AB6337}" type="slidenum">
              <a:rPr lang="en-EG" smtClean="0"/>
              <a:t>12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064355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A8EAA-A922-5298-72A2-6E337F82C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738532-AABF-C2DA-AF71-21AB53B69B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BB8EC7-B761-9370-F1DE-408261511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improved steadily </a:t>
            </a:r>
          </a:p>
          <a:p>
            <a:r>
              <a:rPr lang="en-US" dirty="0"/>
              <a:t>Validation fluctuated </a:t>
            </a:r>
          </a:p>
          <a:p>
            <a:r>
              <a:rPr lang="en-US" dirty="0"/>
              <a:t>Gap indicates overfitting </a:t>
            </a:r>
          </a:p>
          <a:p>
            <a:endParaRPr lang="en-US" dirty="0"/>
          </a:p>
          <a:p>
            <a:r>
              <a:rPr lang="en-US" dirty="0"/>
              <a:t>Because only 10 subjects </a:t>
            </a:r>
          </a:p>
          <a:p>
            <a:r>
              <a:rPr lang="en-US" dirty="0"/>
              <a:t>imbalance </a:t>
            </a:r>
          </a:p>
          <a:p>
            <a:r>
              <a:rPr lang="en-US" dirty="0"/>
              <a:t>ECG variability </a:t>
            </a:r>
          </a:p>
          <a:p>
            <a:endParaRPr lang="en-E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6FF14-8A10-8B88-CEA6-AEA9B66D02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E8B9A4-2E25-7646-BFA7-632E48AB6337}" type="slidenum">
              <a:rPr lang="en-EG" smtClean="0"/>
              <a:t>13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0551835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E2117-BF21-BC71-66B5-802F11CDE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B6077A-34E4-8621-88BB-9B56D22FD9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1A302B-685D-BA64-D727-C1A102B07F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improved steadily </a:t>
            </a:r>
          </a:p>
          <a:p>
            <a:r>
              <a:rPr lang="en-US" dirty="0"/>
              <a:t>Validation fluctuated </a:t>
            </a:r>
          </a:p>
          <a:p>
            <a:r>
              <a:rPr lang="en-US" dirty="0"/>
              <a:t>Gap indicates overfitting </a:t>
            </a:r>
          </a:p>
          <a:p>
            <a:endParaRPr lang="en-US" dirty="0"/>
          </a:p>
          <a:p>
            <a:r>
              <a:rPr lang="en-US" dirty="0"/>
              <a:t>Because only 10 subjects </a:t>
            </a:r>
          </a:p>
          <a:p>
            <a:r>
              <a:rPr lang="en-US" dirty="0"/>
              <a:t>imbalance </a:t>
            </a:r>
          </a:p>
          <a:p>
            <a:r>
              <a:rPr lang="en-US" dirty="0"/>
              <a:t>ECG variability </a:t>
            </a:r>
          </a:p>
          <a:p>
            <a:endParaRPr lang="en-E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48444-760D-E346-6438-11E725AAF0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E8B9A4-2E25-7646-BFA7-632E48AB6337}" type="slidenum">
              <a:rPr lang="en-EG" smtClean="0"/>
              <a:t>14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034334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B8708-4AB9-81F9-21B3-BD87A7AF6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0F913C-9662-80BC-13E6-5D60C4627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21F76A-B796-D59F-3D0F-C29D075836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improved steadily </a:t>
            </a:r>
          </a:p>
          <a:p>
            <a:r>
              <a:rPr lang="en-US" dirty="0"/>
              <a:t>Validation fluctuated </a:t>
            </a:r>
          </a:p>
          <a:p>
            <a:r>
              <a:rPr lang="en-US" dirty="0"/>
              <a:t>Gap indicates overfitting </a:t>
            </a:r>
          </a:p>
          <a:p>
            <a:endParaRPr lang="en-US" dirty="0"/>
          </a:p>
          <a:p>
            <a:r>
              <a:rPr lang="en-US" dirty="0"/>
              <a:t>Because only 10 subjects </a:t>
            </a:r>
          </a:p>
          <a:p>
            <a:r>
              <a:rPr lang="en-US" dirty="0"/>
              <a:t>imbalance </a:t>
            </a:r>
          </a:p>
          <a:p>
            <a:r>
              <a:rPr lang="en-US" dirty="0"/>
              <a:t>ECG variability </a:t>
            </a:r>
          </a:p>
          <a:p>
            <a:endParaRPr lang="en-E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90801-3183-C2BA-7C0B-B2BEE1075A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E8B9A4-2E25-7646-BFA7-632E48AB6337}" type="slidenum">
              <a:rPr lang="en-EG" smtClean="0"/>
              <a:t>15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680108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A4887-392C-470E-0939-A283A74F7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C4E56F-6B62-8AD7-DC1A-E7AB4BB2C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F63F1C-8BEC-52CC-906E-6D6B4FA4F3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improved steadily </a:t>
            </a:r>
          </a:p>
          <a:p>
            <a:r>
              <a:rPr lang="en-US" dirty="0"/>
              <a:t>Validation fluctuated </a:t>
            </a:r>
          </a:p>
          <a:p>
            <a:r>
              <a:rPr lang="en-US" dirty="0"/>
              <a:t>Gap indicates overfitting </a:t>
            </a:r>
          </a:p>
          <a:p>
            <a:endParaRPr lang="en-US" dirty="0"/>
          </a:p>
          <a:p>
            <a:r>
              <a:rPr lang="en-US" dirty="0"/>
              <a:t>Because only 10 subjects </a:t>
            </a:r>
          </a:p>
          <a:p>
            <a:r>
              <a:rPr lang="en-US" dirty="0"/>
              <a:t>imbalance </a:t>
            </a:r>
          </a:p>
          <a:p>
            <a:r>
              <a:rPr lang="en-US" dirty="0"/>
              <a:t>ECG variability </a:t>
            </a:r>
          </a:p>
          <a:p>
            <a:endParaRPr lang="en-E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5F7F6-7E54-BBED-A060-8980C0A228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E8B9A4-2E25-7646-BFA7-632E48AB6337}" type="slidenum">
              <a:rPr lang="en-EG" smtClean="0"/>
              <a:t>16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37855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A079D-EB7F-4956-5DC8-24640E3CA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FEB4F1-6B8F-FCD7-523D-D0035390AE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2F0494-321E-7FF4-613E-0423F41AA1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improved steadily </a:t>
            </a:r>
          </a:p>
          <a:p>
            <a:r>
              <a:rPr lang="en-US" dirty="0"/>
              <a:t>Validation fluctuated </a:t>
            </a:r>
          </a:p>
          <a:p>
            <a:r>
              <a:rPr lang="en-US" dirty="0"/>
              <a:t>Gap indicates overfitting </a:t>
            </a:r>
          </a:p>
          <a:p>
            <a:endParaRPr lang="en-US" dirty="0"/>
          </a:p>
          <a:p>
            <a:r>
              <a:rPr lang="en-US" dirty="0"/>
              <a:t>Because only 10 subjects </a:t>
            </a:r>
          </a:p>
          <a:p>
            <a:r>
              <a:rPr lang="en-US" dirty="0"/>
              <a:t>imbalance </a:t>
            </a:r>
          </a:p>
          <a:p>
            <a:r>
              <a:rPr lang="en-US" dirty="0"/>
              <a:t>ECG variability </a:t>
            </a:r>
          </a:p>
          <a:p>
            <a:endParaRPr lang="en-E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B3C17-0C93-AF7F-7409-740055BD32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E8B9A4-2E25-7646-BFA7-632E48AB6337}" type="slidenum">
              <a:rPr lang="en-EG" smtClean="0"/>
              <a:t>17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039008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72400-7EF3-9691-B6F6-9176B3D7E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360981-4544-C35C-F0FA-A7BE4800AC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534EA-21AC-2C9B-A58F-DD905CCB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7D16A-B2EB-664D-8C44-F8BE965AF78C}" type="datetimeFigureOut">
              <a:rPr lang="en-EG" smtClean="0"/>
              <a:t>11/05/2026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4965E-288D-3D59-D06E-BC45420E5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21713-3AC3-A898-5351-BA4234C0F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6173-7FF2-7541-BB27-B111CC4B34FD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81676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8E65E-768C-6633-21F3-ACA576482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C5567-86E5-DF7B-D36A-973024025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5A7DF-1318-1336-D6AE-0FAF42947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7D16A-B2EB-664D-8C44-F8BE965AF78C}" type="datetimeFigureOut">
              <a:rPr lang="en-EG" smtClean="0"/>
              <a:t>11/05/2026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9E5FB-B771-7051-DDDC-113D0DA48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AEAAD-A378-0E9B-5F47-ED3DC8E32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6173-7FF2-7541-BB27-B111CC4B34FD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927352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6216F-C298-403F-F309-436950ED3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25BD3-1727-BDCC-CB8A-33BD7DF0F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97BCB-40CC-1967-AE46-FE8A1670B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7D16A-B2EB-664D-8C44-F8BE965AF78C}" type="datetimeFigureOut">
              <a:rPr lang="en-EG" smtClean="0"/>
              <a:t>11/05/2026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A0625-0C35-EF20-CACD-D09FC72F3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AF3F1-0053-1968-5864-847C425E4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6173-7FF2-7541-BB27-B111CC4B34FD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2479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F1C93-6550-8A06-AB04-2DCEAF801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F8853-F2FB-2769-D664-3FD9980CA2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9856C5-AB9A-DE74-C695-89AF28998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7F1E1F-BE25-B8FB-DA86-59CABCEE2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7D16A-B2EB-664D-8C44-F8BE965AF78C}" type="datetimeFigureOut">
              <a:rPr lang="en-EG" smtClean="0"/>
              <a:t>11/05/2026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202C7B-F9C5-52C7-4DDB-4149DD0ED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0CC33-4F68-A097-F173-A243AB558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6173-7FF2-7541-BB27-B111CC4B34FD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949266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70540-620A-CCA2-7C59-950BECBE8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4E631-5A94-472C-182C-A9E344F0A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7A1EDF-DB7D-7ADD-B03F-15118F999B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E5C8CF-A1E0-589F-BEE8-6DD97E596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57D6F2-8A26-9E7F-76E4-D1ED8C26E4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1A037A-B3EC-B6CB-39B9-53462F8ED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7D16A-B2EB-664D-8C44-F8BE965AF78C}" type="datetimeFigureOut">
              <a:rPr lang="en-EG" smtClean="0"/>
              <a:t>11/05/2026</a:t>
            </a:fld>
            <a:endParaRPr lang="en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13AE75-EFE4-8AD7-6183-A8BEFBD4C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EEE721-BB5C-B03E-EA19-AEA00D8C6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6173-7FF2-7541-BB27-B111CC4B34FD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893955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23DB4-D9A4-D5C8-3C17-C83D294FE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95A2CA-F83E-D678-9F43-4204742D9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7D16A-B2EB-664D-8C44-F8BE965AF78C}" type="datetimeFigureOut">
              <a:rPr lang="en-EG" smtClean="0"/>
              <a:t>11/05/2026</a:t>
            </a:fld>
            <a:endParaRPr lang="en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2D139E-8C26-511E-0BD7-293E9BA5B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CE9ADF-A78F-F25C-2002-9FFAFD1C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6173-7FF2-7541-BB27-B111CC4B34FD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270642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375C64-2773-F734-7B0A-29E4C4F16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7D16A-B2EB-664D-8C44-F8BE965AF78C}" type="datetimeFigureOut">
              <a:rPr lang="en-EG" smtClean="0"/>
              <a:t>11/05/2026</a:t>
            </a:fld>
            <a:endParaRPr lang="en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8BA615-3846-95EF-9DA9-A149A4C31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0A476-9C33-6DCD-1EEF-4443C9D37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6173-7FF2-7541-BB27-B111CC4B34FD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847769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357FB-1249-2000-1846-F92AB7CB1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0A566-D9A9-3D15-DBB8-13D6A9B40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0C6C70-778B-E884-1040-46F17B708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A0296-92E2-B1B6-A1B0-309F5F307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7D16A-B2EB-664D-8C44-F8BE965AF78C}" type="datetimeFigureOut">
              <a:rPr lang="en-EG" smtClean="0"/>
              <a:t>11/05/2026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9399AB-92B7-123F-0F04-A6DEA18CA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AE1F0-447E-DC44-BF16-F300F1A9E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6173-7FF2-7541-BB27-B111CC4B34FD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164571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70A02-0497-DE9C-4DB8-14B79F1B6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65D600-1663-3A6C-4081-557B07889E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28A512-C896-0C15-505E-3C977A53D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99055-FC61-6193-03E2-9CB7689BF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7D16A-B2EB-664D-8C44-F8BE965AF78C}" type="datetimeFigureOut">
              <a:rPr lang="en-EG" smtClean="0"/>
              <a:t>11/05/2026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5DD495-50E8-4396-8560-8468CB054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B6EC4C-D3F3-20F5-C5CB-6F63FF9CC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6173-7FF2-7541-BB27-B111CC4B34FD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99791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62A9F-0F8C-CFA8-95C3-84C7F6B28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426825-F405-6CD1-F0CD-CC1677C338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CEDFD-5151-CB6E-563A-03340FE0D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7D16A-B2EB-664D-8C44-F8BE965AF78C}" type="datetimeFigureOut">
              <a:rPr lang="en-EG" smtClean="0"/>
              <a:t>11/05/2026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39B37-3042-DC93-4AE9-CC581D181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3C554-23AC-606E-A68D-039B01EAB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6173-7FF2-7541-BB27-B111CC4B34FD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61476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F9E648-90F3-964E-575C-32A518BB58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5D92-0643-682F-B71D-4EE7917CF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5A280-5A0F-105D-E62F-13317CED4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7D16A-B2EB-664D-8C44-F8BE965AF78C}" type="datetimeFigureOut">
              <a:rPr lang="en-EG" smtClean="0"/>
              <a:t>11/05/2026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C02AA-C6D2-3E99-7E89-EB66695D5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570C5-9717-8A95-60A8-5ECF5D1D6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6173-7FF2-7541-BB27-B111CC4B34FD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782638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9B3E9F-2366-E080-C9B1-788BE8E76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895459-07DE-E94A-4A24-97F468276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B8BC1-4229-DB4F-53EF-D3C8432A35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7D16A-B2EB-664D-8C44-F8BE965AF78C}" type="datetimeFigureOut">
              <a:rPr lang="en-EG" smtClean="0"/>
              <a:t>11/05/2026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406F2-5940-58AF-6022-88AA5822D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F9FA6-3951-4768-3541-5924BD035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A66173-7FF2-7541-BB27-B111CC4B34FD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56894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E54E6-1C4D-A697-9572-F9235270B9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E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Stage Classification Using Deep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C2C66E-F048-A208-855D-9E467CE367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(BIO3609) Biomedical Signal Processing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9</a:t>
            </a:r>
          </a:p>
          <a:p>
            <a:r>
              <a:rPr lang="ar-SA" dirty="0">
                <a:latin typeface="Times New Roman" panose="02020603050405020304" pitchFamily="18" charset="0"/>
                <a:cs typeface="Times New Roman" panose="02020603050405020304" pitchFamily="18" charset="0"/>
              </a:rPr>
              <a:t>ليان عمرو – رقية مختار – هيا غراب</a:t>
            </a:r>
            <a:endParaRPr lang="en-E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226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DD3AE-545D-6B5C-93E0-22D714A47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64DE4-251D-6BF3-74AE-BD3891840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70265" cy="4351338"/>
          </a:xfrm>
        </p:spPr>
        <p:txBody>
          <a:bodyPr/>
          <a:lstStyle/>
          <a:p>
            <a:r>
              <a:rPr lang="en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staging is important in diagnosing diseases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linked to cardiovascular diseases and fatigue.</a:t>
            </a:r>
          </a:p>
          <a:p>
            <a:r>
              <a:rPr lang="en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standard method uses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polysomnography that includes EEG, ECG, EOG, and EMG signals.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is that it is expensive, uncomfortable, and not practical for long-term monitoring.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 can be built to automate the classification process.</a:t>
            </a:r>
            <a:r>
              <a:rPr lang="en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06604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B5E62-5D68-866F-63D8-BAE4DAC96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79A1C-B13C-63B2-0698-0AB679911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A8DB7-A120-3A6F-620B-6F6B11359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70265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“Can we classify sleep stages using ECG signals only?”</a:t>
            </a:r>
          </a:p>
          <a:p>
            <a:r>
              <a:rPr lang="en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ECG signals are easy to measure and can be made into wearable devices that could enable home monitoring. </a:t>
            </a:r>
          </a:p>
          <a:p>
            <a:r>
              <a:rPr lang="en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would classify the stages into 4 classes:</a:t>
            </a:r>
          </a:p>
          <a:p>
            <a:pPr marL="914400" lvl="1" indent="-457200">
              <a:buAutoNum type="arabicPeriod"/>
            </a:pPr>
            <a:r>
              <a:rPr lang="en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Wake</a:t>
            </a:r>
          </a:p>
          <a:p>
            <a:pPr marL="914400" lvl="1" indent="-457200">
              <a:buAutoNum type="arabicPeriod"/>
            </a:pPr>
            <a:r>
              <a:rPr lang="en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sleep (N1+N2)</a:t>
            </a:r>
          </a:p>
          <a:p>
            <a:pPr marL="914400" lvl="1" indent="-457200">
              <a:buAutoNum type="arabicPeriod"/>
            </a:pPr>
            <a:r>
              <a:rPr lang="en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sleep (N3)</a:t>
            </a:r>
          </a:p>
          <a:p>
            <a:pPr marL="914400" lvl="1" indent="-457200">
              <a:buAutoNum type="arabicPeriod"/>
            </a:pPr>
            <a:r>
              <a:rPr lang="en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</a:t>
            </a:r>
          </a:p>
        </p:txBody>
      </p:sp>
    </p:spTree>
    <p:extLst>
      <p:ext uri="{BB962C8B-B14F-4D97-AF65-F5344CB8AC3E}">
        <p14:creationId xmlns:p14="http://schemas.microsoft.com/office/powerpoint/2010/main" val="1616861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CEBF2-987A-13CD-5EC3-06F4A0371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770E0-C2BE-7606-F150-71186B421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MESA Sleep Study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33DA1-CFE0-1E71-3FBB-E1604E64B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70265" cy="4351338"/>
          </a:xfrm>
        </p:spPr>
        <p:txBody>
          <a:bodyPr/>
          <a:lstStyle/>
          <a:p>
            <a:r>
              <a:rPr lang="en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ECG sampled at 256 Hz.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Divided into signals (.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annotations (.xml).</a:t>
            </a:r>
          </a:p>
          <a:p>
            <a:r>
              <a:rPr lang="en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Signals split into 30-second epochs.</a:t>
            </a:r>
          </a:p>
          <a:p>
            <a:r>
              <a:rPr lang="en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subjects are used (major limitation).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AA2A1F-0299-8AB5-F67A-F56ED199A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361" y="4001294"/>
            <a:ext cx="9301939" cy="243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934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C7F7B-A0BD-3ABA-3675-710D49F1F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9954-8239-03C0-18F7-E513E3F77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AutoNum type="arabicPeriod"/>
            </a:pPr>
            <a:r>
              <a:rPr lang="en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Access &amp; Loading</a:t>
            </a:r>
          </a:p>
          <a:p>
            <a: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AutoNum type="arabicPeriod"/>
            </a:pPr>
            <a:r>
              <a:rPr lang="en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Preprocessing</a:t>
            </a:r>
          </a:p>
          <a:p>
            <a: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AutoNum type="arabicPeriod"/>
            </a:pPr>
            <a:r>
              <a:rPr lang="en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Multi-Scale Feature Extraction</a:t>
            </a:r>
          </a:p>
          <a:p>
            <a: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AutoNum type="arabicPeriod"/>
            </a:pPr>
            <a:r>
              <a:rPr lang="en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Balancing</a:t>
            </a:r>
          </a:p>
          <a:p>
            <a: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AutoNum type="arabicPeriod"/>
            </a:pPr>
            <a:r>
              <a:rPr lang="en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Architecture </a:t>
            </a:r>
          </a:p>
          <a:p>
            <a: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AutoNum type="arabicPeriod"/>
            </a:pPr>
            <a:r>
              <a:rPr lang="en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Optimization</a:t>
            </a:r>
          </a:p>
          <a:p>
            <a: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AutoNum type="arabicPeriod"/>
            </a:pPr>
            <a:r>
              <a:rPr lang="en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</a:p>
        </p:txBody>
      </p:sp>
    </p:spTree>
    <p:extLst>
      <p:ext uri="{BB962C8B-B14F-4D97-AF65-F5344CB8AC3E}">
        <p14:creationId xmlns:p14="http://schemas.microsoft.com/office/powerpoint/2010/main" val="779497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0D607-1916-8174-1608-005F64526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D2475-C29A-D72C-B839-7C07B8883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Preprocessing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8B3522E-2598-8B43-7540-D961D7D2A8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6502"/>
          <a:stretch>
            <a:fillRect/>
          </a:stretch>
        </p:blipFill>
        <p:spPr>
          <a:xfrm>
            <a:off x="1648619" y="4082903"/>
            <a:ext cx="9448800" cy="2004294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952EB74-D911-B7B3-19BC-C52D464BD84D}"/>
              </a:ext>
            </a:extLst>
          </p:cNvPr>
          <p:cNvSpPr txBox="1">
            <a:spLocks/>
          </p:cNvSpPr>
          <p:nvPr/>
        </p:nvSpPr>
        <p:spPr>
          <a:xfrm>
            <a:off x="838199" y="1825625"/>
            <a:ext cx="1107026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E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7D7C96F-5762-C6C2-D218-305BDFE27FB8}"/>
              </a:ext>
            </a:extLst>
          </p:cNvPr>
          <p:cNvSpPr txBox="1">
            <a:spLocks/>
          </p:cNvSpPr>
          <p:nvPr/>
        </p:nvSpPr>
        <p:spPr>
          <a:xfrm>
            <a:off x="990599" y="1978025"/>
            <a:ext cx="1107026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Bandpass filter (0.5-40 Hz) to remove baseline drift.</a:t>
            </a:r>
          </a:p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Notch filter (60 Hz) to remove powerline noise.</a:t>
            </a:r>
          </a:p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to standardize amplitudes. </a:t>
            </a:r>
            <a:endParaRPr lang="en-E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651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EEF2C-24AF-92FC-A13F-398179971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F88C0-9AE5-7FDB-C35D-A7AFE750C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F3CC0-9F93-F3FA-9E8F-831976C48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70265" cy="4351338"/>
          </a:xfrm>
        </p:spPr>
        <p:txBody>
          <a:bodyPr/>
          <a:lstStyle/>
          <a:p>
            <a:r>
              <a:rPr lang="en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split</a:t>
            </a:r>
            <a:r>
              <a:rPr lang="en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30-second epochs (standard in sleep scoring).</a:t>
            </a:r>
          </a:p>
          <a:p>
            <a:r>
              <a:rPr lang="en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window is 11 epochs (5 previous + current + 5 future).</a:t>
            </a:r>
          </a:p>
          <a:p>
            <a:r>
              <a:rPr lang="en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Neighboring epochs are useful as sleep stages transition gradually. </a:t>
            </a:r>
          </a:p>
        </p:txBody>
      </p:sp>
    </p:spTree>
    <p:extLst>
      <p:ext uri="{BB962C8B-B14F-4D97-AF65-F5344CB8AC3E}">
        <p14:creationId xmlns:p14="http://schemas.microsoft.com/office/powerpoint/2010/main" val="1793269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850DA-8D14-9976-6BFD-781249332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FD564-E995-E8D8-E877-F5BDB34AF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Splitting &amp; Imbalance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E142C-4E3D-C72D-FF11-86327156D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70265" cy="4351338"/>
          </a:xfrm>
        </p:spPr>
        <p:txBody>
          <a:bodyPr>
            <a:normAutofit/>
          </a:bodyPr>
          <a:lstStyle/>
          <a:p>
            <a:r>
              <a:rPr lang="en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epochs: 12,758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Train: 8561 Epochs</a:t>
            </a:r>
            <a:endParaRPr lang="en-E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Val: 2,998 Epochs</a:t>
            </a:r>
            <a:endParaRPr lang="en-E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Test: 1,199 Epochs</a:t>
            </a:r>
            <a:endParaRPr lang="en-E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Subject-wise split:</a:t>
            </a:r>
          </a:p>
          <a:p>
            <a:pPr lvl="1"/>
            <a:r>
              <a:rPr lang="en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Training: 7 subjects</a:t>
            </a:r>
          </a:p>
          <a:p>
            <a:pPr lvl="1"/>
            <a:r>
              <a:rPr lang="en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Validation: 2 subjects</a:t>
            </a:r>
          </a:p>
          <a:p>
            <a:pPr lvl="1"/>
            <a:r>
              <a:rPr lang="en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Testing: 1 subject</a:t>
            </a:r>
          </a:p>
          <a:p>
            <a:pPr lvl="1"/>
            <a:endParaRPr lang="en-E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l">
              <a:buNone/>
            </a:pPr>
            <a:endParaRPr lang="en-E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E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E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E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5FFA18-3A43-299E-3A84-3806F9DCCD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09" y="2345294"/>
            <a:ext cx="6690591" cy="33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333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E07ED-966F-30EF-5FCE-DFCADB1B9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77F26-19AB-3F01-65C6-46961B7A7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954F7-4618-6F05-7B93-0669A4227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70628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Three-branch architecture: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1.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 CNN (Waveform features)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for automatic feature extraction from raw physiological signals.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2.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2-layer Bidirectional LSTM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transitions and uses previous and future context.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3.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mechanism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informative epochs which reduces irrelevant temporal information.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304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26F54-BF2A-99A7-643C-382E07CEB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41295-8CAB-D8A5-ABDC-9981E4FBE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Multi-scale Feature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F62E1-6489-FB5E-9774-5E827A957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70628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extraction of raw waveforms, we used Heart Rate Variability (HRV) as well.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measures the time gap between heartbeats. It helps classify REM and deep sleep stages better: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REM: irregular heartbeats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sleep: steady/regular heartbeats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them provides complementary information.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3746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204E8-9258-95E2-DBC2-ECEB49694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AEB96-227C-B736-AAD1-3D6D3ACA4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4CCB4-C60B-78F2-960A-4FAECFD29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670628" cy="485652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Version: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CrossEntropyLoss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label smoothing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random shuffling during training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constant learning rate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HRV context window 30 secs (1 epoch)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Version: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Focal Loss for imbalance handling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WeightedRandomSampler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Cosine Annealing Warm Restarts scheduler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Expanded HRV context window to 5.5 minutes (11 epochs)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151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86DE4-F4CB-33EC-12EE-CE16C9A39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5C1A5-4141-548D-916C-772CDCBC8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F422C0-1463-44EC-1AED-E5098FA2B2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396" t="9184" r="313"/>
          <a:stretch>
            <a:fillRect/>
          </a:stretch>
        </p:blipFill>
        <p:spPr>
          <a:xfrm>
            <a:off x="1227704" y="2411268"/>
            <a:ext cx="4500404" cy="34479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2217CF-4B28-E85C-7579-511B556F2C0D}"/>
              </a:ext>
            </a:extLst>
          </p:cNvPr>
          <p:cNvSpPr txBox="1"/>
          <p:nvPr/>
        </p:nvSpPr>
        <p:spPr>
          <a:xfrm>
            <a:off x="1617208" y="1690688"/>
            <a:ext cx="3721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version</a:t>
            </a:r>
          </a:p>
        </p:txBody>
      </p:sp>
      <p:pic>
        <p:nvPicPr>
          <p:cNvPr id="12" name="Content Placeholder 5">
            <a:extLst>
              <a:ext uri="{FF2B5EF4-FFF2-40B4-BE49-F238E27FC236}">
                <a16:creationId xmlns:a16="http://schemas.microsoft.com/office/drawing/2014/main" id="{FB864102-444B-3C0F-85E6-5EE5A94336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l="32909" t="7593" r="33807"/>
          <a:stretch>
            <a:fillRect/>
          </a:stretch>
        </p:blipFill>
        <p:spPr>
          <a:xfrm>
            <a:off x="6363055" y="2333576"/>
            <a:ext cx="4601241" cy="35256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45C3F6E-9EF2-E03D-6E4F-96E58C255432}"/>
              </a:ext>
            </a:extLst>
          </p:cNvPr>
          <p:cNvSpPr txBox="1"/>
          <p:nvPr/>
        </p:nvSpPr>
        <p:spPr>
          <a:xfrm>
            <a:off x="6802978" y="1612996"/>
            <a:ext cx="3721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version</a:t>
            </a:r>
          </a:p>
        </p:txBody>
      </p:sp>
    </p:spTree>
    <p:extLst>
      <p:ext uri="{BB962C8B-B14F-4D97-AF65-F5344CB8AC3E}">
        <p14:creationId xmlns:p14="http://schemas.microsoft.com/office/powerpoint/2010/main" val="1605165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C0FC7-B855-D2FD-0FB0-6DA686EFA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B93A4-A0C0-12D1-D34B-B44D06A13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2E4D01-A3BA-E11F-2F27-E934B23ED8B8}"/>
              </a:ext>
            </a:extLst>
          </p:cNvPr>
          <p:cNvSpPr txBox="1"/>
          <p:nvPr/>
        </p:nvSpPr>
        <p:spPr>
          <a:xfrm>
            <a:off x="6367900" y="1690688"/>
            <a:ext cx="3721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version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F48976-971A-9263-7740-92EE29C132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584" r="-584"/>
          <a:stretch>
            <a:fillRect/>
          </a:stretch>
        </p:blipFill>
        <p:spPr>
          <a:xfrm>
            <a:off x="6096000" y="2576418"/>
            <a:ext cx="4757513" cy="34690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089A82A-4893-D8B7-41AA-ADF679E42A23}"/>
              </a:ext>
            </a:extLst>
          </p:cNvPr>
          <p:cNvSpPr txBox="1"/>
          <p:nvPr/>
        </p:nvSpPr>
        <p:spPr>
          <a:xfrm>
            <a:off x="1356259" y="1690688"/>
            <a:ext cx="3721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version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240A08-3AD5-11E2-3477-C6F6F2A692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430" r="591"/>
          <a:stretch>
            <a:fillRect/>
          </a:stretch>
        </p:blipFill>
        <p:spPr>
          <a:xfrm>
            <a:off x="838200" y="2576418"/>
            <a:ext cx="4757513" cy="347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387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73022-458C-D773-82FE-708BCB845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40622-D081-D5BF-8779-8A079C724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1EEB84-1885-9313-7092-318EF4694348}"/>
              </a:ext>
            </a:extLst>
          </p:cNvPr>
          <p:cNvSpPr txBox="1"/>
          <p:nvPr/>
        </p:nvSpPr>
        <p:spPr>
          <a:xfrm>
            <a:off x="6726052" y="1690688"/>
            <a:ext cx="3721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version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D22768-AACF-3E97-4BB4-874E516B0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576418"/>
            <a:ext cx="4981499" cy="34789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F7BD3C-B366-D6F3-8BBC-E761E53520E8}"/>
              </a:ext>
            </a:extLst>
          </p:cNvPr>
          <p:cNvSpPr txBox="1"/>
          <p:nvPr/>
        </p:nvSpPr>
        <p:spPr>
          <a:xfrm>
            <a:off x="1326119" y="1690688"/>
            <a:ext cx="3721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version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44AA5F-F4C4-3068-3434-19C89584BC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1" y="2576418"/>
            <a:ext cx="4981499" cy="347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565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77604-89A0-30A8-7461-09195244F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2CC7E-6FA1-5445-37B3-4E4FDAA0C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DA1314-4364-3228-176B-40D744BFE9CD}"/>
              </a:ext>
            </a:extLst>
          </p:cNvPr>
          <p:cNvSpPr txBox="1"/>
          <p:nvPr/>
        </p:nvSpPr>
        <p:spPr>
          <a:xfrm>
            <a:off x="53278" y="4878765"/>
            <a:ext cx="3721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version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4047F1-3FAD-D22A-21BC-95D297BC5357}"/>
              </a:ext>
            </a:extLst>
          </p:cNvPr>
          <p:cNvSpPr txBox="1"/>
          <p:nvPr/>
        </p:nvSpPr>
        <p:spPr>
          <a:xfrm>
            <a:off x="53278" y="2267456"/>
            <a:ext cx="3721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version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3DABE01-2C84-DD2E-17F8-18E0375D3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7930" y="844282"/>
            <a:ext cx="5739130" cy="25847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614629-1BF7-9AE3-D4C6-61E8E4D55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7930" y="3878793"/>
            <a:ext cx="5739130" cy="258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315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58914-C5F4-80A0-39B1-D7EEDE5EE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8112E-D8A6-503D-3940-95322A66E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92EDA4-96DD-C8AF-686A-23A003DC89E0}"/>
              </a:ext>
            </a:extLst>
          </p:cNvPr>
          <p:cNvSpPr txBox="1"/>
          <p:nvPr/>
        </p:nvSpPr>
        <p:spPr>
          <a:xfrm>
            <a:off x="0" y="4654364"/>
            <a:ext cx="3721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version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75F1E0-86B3-AD09-2097-1C80D6706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396" y="3400630"/>
            <a:ext cx="7772400" cy="30922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2677DC-B22C-A3DC-722A-24584D92176E}"/>
              </a:ext>
            </a:extLst>
          </p:cNvPr>
          <p:cNvSpPr txBox="1"/>
          <p:nvPr/>
        </p:nvSpPr>
        <p:spPr>
          <a:xfrm>
            <a:off x="0" y="2146894"/>
            <a:ext cx="3721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version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C9E415-66ED-3E24-737F-7C3F8B561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396" y="365125"/>
            <a:ext cx="7772400" cy="309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208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EC38A-B102-A81F-60BB-EDADF896F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69FA1-9B08-984B-B4E4-D62E9C44D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DB282B-9845-F33F-C312-0A318A2A6F0C}"/>
              </a:ext>
            </a:extLst>
          </p:cNvPr>
          <p:cNvSpPr txBox="1"/>
          <p:nvPr/>
        </p:nvSpPr>
        <p:spPr>
          <a:xfrm>
            <a:off x="0" y="4654364"/>
            <a:ext cx="3721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version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692AFF-ADA8-DF60-3D41-EFFE51A02CCE}"/>
              </a:ext>
            </a:extLst>
          </p:cNvPr>
          <p:cNvSpPr txBox="1"/>
          <p:nvPr/>
        </p:nvSpPr>
        <p:spPr>
          <a:xfrm>
            <a:off x="0" y="2146894"/>
            <a:ext cx="3721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version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36F727-C948-E361-4A13-BADAD8153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246" y="4013589"/>
            <a:ext cx="6108700" cy="2451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F537A7-38D8-DC7C-0F2A-D68DC397EC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6087"/>
          <a:stretch>
            <a:fillRect/>
          </a:stretch>
        </p:blipFill>
        <p:spPr>
          <a:xfrm>
            <a:off x="4553246" y="921344"/>
            <a:ext cx="6121400" cy="245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844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27825-E5F5-B540-C4A8-69475AC82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29FE0-CF5D-6510-A1A5-2E6366098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460" y="410845"/>
            <a:ext cx="11353800" cy="1325563"/>
          </a:xfrm>
        </p:spPr>
        <p:txBody>
          <a:bodyPr/>
          <a:lstStyle/>
          <a:p>
            <a:r>
              <a:rPr lang="en-E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			  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DE374-0A43-A728-6F69-5DFE68A87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459" y="1871345"/>
            <a:ext cx="3859531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dataset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Severe class imbalance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 variability</a:t>
            </a:r>
            <a:endParaRPr lang="en-E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FB6E497-818E-3217-90E8-065BC91E99D5}"/>
              </a:ext>
            </a:extLst>
          </p:cNvPr>
          <p:cNvSpPr txBox="1">
            <a:spLocks/>
          </p:cNvSpPr>
          <p:nvPr/>
        </p:nvSpPr>
        <p:spPr>
          <a:xfrm>
            <a:off x="6400798" y="1871345"/>
            <a:ext cx="427101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subjects</a:t>
            </a:r>
          </a:p>
          <a:p>
            <a:r>
              <a:rPr lang="en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class balance</a:t>
            </a:r>
          </a:p>
          <a:p>
            <a:r>
              <a:rPr lang="en-E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signals</a:t>
            </a:r>
          </a:p>
        </p:txBody>
      </p:sp>
    </p:spTree>
    <p:extLst>
      <p:ext uri="{BB962C8B-B14F-4D97-AF65-F5344CB8AC3E}">
        <p14:creationId xmlns:p14="http://schemas.microsoft.com/office/powerpoint/2010/main" val="205195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FADB48-2B63-F31F-FE83-DBC30C8EB0F7}"/>
              </a:ext>
            </a:extLst>
          </p:cNvPr>
          <p:cNvSpPr txBox="1"/>
          <p:nvPr/>
        </p:nvSpPr>
        <p:spPr>
          <a:xfrm>
            <a:off x="1021080" y="2644170"/>
            <a:ext cx="101498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G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r>
              <a:rPr lang="en-EG" sz="96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:)</a:t>
            </a:r>
            <a:endParaRPr lang="en-EG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529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</TotalTime>
  <Words>616</Words>
  <Application>Microsoft Macintosh PowerPoint</Application>
  <PresentationFormat>Widescreen</PresentationFormat>
  <Paragraphs>154</Paragraphs>
  <Slides>19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Sleep Stage Classification Using Deep Learning</vt:lpstr>
      <vt:lpstr>Problem Statement</vt:lpstr>
      <vt:lpstr>Project Idea</vt:lpstr>
      <vt:lpstr>MESA Sleep Study Dataset</vt:lpstr>
      <vt:lpstr>Pipeline Overview</vt:lpstr>
      <vt:lpstr>Signal Preprocessing</vt:lpstr>
      <vt:lpstr>Signal Segmentation</vt:lpstr>
      <vt:lpstr>Data Splitting &amp; Imbalance</vt:lpstr>
      <vt:lpstr>Model Architecture</vt:lpstr>
      <vt:lpstr>Multi-scale Feature Extraction</vt:lpstr>
      <vt:lpstr>Comparison</vt:lpstr>
      <vt:lpstr>Results</vt:lpstr>
      <vt:lpstr>Results</vt:lpstr>
      <vt:lpstr>Results</vt:lpstr>
      <vt:lpstr>Results</vt:lpstr>
      <vt:lpstr>Results</vt:lpstr>
      <vt:lpstr>Results</vt:lpstr>
      <vt:lpstr>Limitations      Future Improvements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Hya Ghorab</dc:creator>
  <cp:lastModifiedBy>Hya Ghorab</cp:lastModifiedBy>
  <cp:revision>11</cp:revision>
  <dcterms:created xsi:type="dcterms:W3CDTF">2026-05-08T10:42:33Z</dcterms:created>
  <dcterms:modified xsi:type="dcterms:W3CDTF">2026-05-11T12:05:23Z</dcterms:modified>
</cp:coreProperties>
</file>